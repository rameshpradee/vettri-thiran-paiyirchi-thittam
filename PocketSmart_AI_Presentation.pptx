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545"/>
                </a:solidFill>
                <a:latin typeface="Cambria"/>
              </a:defRPr>
            </a:pPr>
            <a:r>
              <a:rPr sz="1600" b="0" i="0" u="none" strike="noStrike">
                <a:solidFill>
                  <a:srgbClr val="0B2545"/>
                </a:solidFill>
                <a:latin typeface="Cambria"/>
              </a:rPr>
              <a:t>Party plan (%)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B2545"/>
              </a:solidFill>
              <a:effectLst/>
            </c:spPr>
          </c:dPt>
          <c:dPt>
            <c:idx val="2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bubble3D val="0"/>
            <c:spPr>
              <a:solidFill>
                <a:srgbClr val="F4B942"/>
              </a:solidFill>
              <a:effectLst/>
            </c:spPr>
          </c:dPt>
          <c:dPt>
            <c:idx val="4"/>
            <c:bubble3D val="0"/>
            <c:spPr>
              <a:solidFill>
                <a:srgbClr val="9FB3C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Catering</c:v>
                </c:pt>
                <c:pt idx="1">
                  <c:v>Venue</c:v>
                </c:pt>
                <c:pt idx="2">
                  <c:v>Decoration</c:v>
                </c:pt>
                <c:pt idx="3">
                  <c:v>Entertainment</c:v>
                </c:pt>
                <c:pt idx="4">
                  <c:v>Contingency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45</c:v>
                </c:pt>
                <c:pt idx="1">
                  <c:v>25</c:v>
                </c:pt>
                <c:pt idx="2">
                  <c:v>15</c:v>
                </c:pt>
                <c:pt idx="3">
                  <c:v>10</c:v>
                </c:pt>
                <c:pt idx="4">
                  <c:v>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3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2545"/>
                </a:solidFill>
                <a:latin typeface="Cambria"/>
              </a:defRPr>
            </a:pPr>
            <a:r>
              <a:rPr sz="1600" b="0" i="0" u="none" strike="noStrike">
                <a:solidFill>
                  <a:srgbClr val="0B2545"/>
                </a:solidFill>
                <a:latin typeface="Cambria"/>
              </a:rPr>
              <a:t>Home interior plan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Interior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Furniture</c:v>
                  </c:pt>
                  <c:pt idx="1">
                    <c:v>Dining</c:v>
                  </c:pt>
                  <c:pt idx="2">
                    <c:v>Decor</c:v>
                  </c:pt>
                  <c:pt idx="3">
                    <c:v>Lighting</c:v>
                  </c:pt>
                  <c:pt idx="4">
                    <c:v>Fans</c:v>
                  </c:pt>
                  <c:pt idx="5">
                    <c:v>Spare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40</c:v>
                </c:pt>
                <c:pt idx="1">
                  <c:v>15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A3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</c:scaling>
        <c:delete val="0"/>
        <c:axPos val="b"/>
        <c:majorGridlines>
          <c:spPr>
            <a:ln w="635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an AI assistant that turns a budget into a plan for home interior, party and jewelry.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 pain points that motivate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objectives of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user journey from login to saved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layers: presentation, application, AI,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the tools used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Shares are sample values, editable in the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 test cases are listed in the Excel workbook.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future work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640080"/>
            <a:ext cx="1371600" cy="13716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8040" y="1051560"/>
            <a:ext cx="548640" cy="5486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589520" y="2103120"/>
            <a:ext cx="822960" cy="8229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331720"/>
            <a:ext cx="365760" cy="36576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137160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PocketSmart AI</a:t>
            </a:r>
            <a:endParaRPr lang="en-US" sz="48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3172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Budget and Recommendation Assistant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8803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Interior  |  Party  |  Jewelry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Spending within a budget is hard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6459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wasted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products and prices across many websites takes hours.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6459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8288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Poor budget split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is divided by guesswork, so some items get too much and others too little.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82880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606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memory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06324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are not saved, so the user starts from zero every time.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one plan from one budget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budget and a few details. PocketSmart AI splits the money across categories and points to where to buy or book.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92608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planners in one application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325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623560" y="114300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budget split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846320" y="19659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1031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92024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links to Amazon, Flipkart, IKEA, Swiggy, Zomato, OYO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4846320" y="274320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88036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623560" y="269748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photo based jewelry matching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4846320" y="35204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657600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623560" y="34747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saved history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planners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645920"/>
            <a:ext cx="914400" cy="9144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 Interior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Lights, fans, furniture, dining and decor planned within budget.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46120" y="137160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520440" y="1645920"/>
            <a:ext cx="914400" cy="9144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52044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Party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Catering, venue, decoration and entertainment split for your guest count.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035040" y="137160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09360" y="1645920"/>
            <a:ext cx="914400" cy="91440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743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Jewelry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309360" y="324612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or outfit photo in, matching necklace, earrings and bangles out.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68680" y="17373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965960"/>
            <a:ext cx="457200" cy="457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08760" y="1600200"/>
            <a:ext cx="36576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Login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560320" y="17373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1965960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200400" y="1600200"/>
            <a:ext cx="36576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219456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 budget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4251960" y="1737360"/>
            <a:ext cx="914400" cy="9144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96596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892040" y="1600200"/>
            <a:ext cx="36576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388620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plans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5943600" y="17373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6596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83680" y="1600200"/>
            <a:ext cx="36576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split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635240" y="1737360"/>
            <a:ext cx="914400" cy="9144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1965960"/>
            <a:ext cx="457200" cy="45720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275320" y="1600200"/>
            <a:ext cx="365760" cy="365760"/>
          </a:xfrm>
          <a:prstGeom prst="rect">
            <a:avLst/>
          </a:prstGeom>
          <a:solidFill>
            <a:srgbClr val="0B254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7269480" y="28346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Saved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AI service is unavailable, a rule-based fallback engine still returns a plan.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D5ECEA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188720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Presentation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566160" y="1188720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CSS, JavaScript with Jinja2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57200" y="2084832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2176272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1343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08483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084832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routes, auth, planner logic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457200" y="2980944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D5ECEA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0080" y="3072384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09544"/>
            <a:ext cx="292608" cy="2926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2980944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566160" y="2980944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API + fallback engine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457200" y="3877056"/>
            <a:ext cx="8229600" cy="749808"/>
          </a:xfrm>
          <a:prstGeom prst="roundRect">
            <a:avLst>
              <a:gd name="adj" fmla="val 12195"/>
            </a:avLst>
          </a:prstGeom>
          <a:solidFill>
            <a:srgbClr val="E8F4F3"/>
          </a:solidFill>
          <a:ln w="12700">
            <a:solidFill>
              <a:srgbClr val="E8F4F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968496"/>
            <a:ext cx="566928" cy="56692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05656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3877056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3566160" y="3877056"/>
            <a:ext cx="4937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SQLite: users and recommendations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5087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FastAPI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and REST 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4612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5087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Gemini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and image understanding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035040" y="128016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63640" y="150876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45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49440" y="146304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Jinja2, HTML, CSS, JS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63640" y="21488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pages and forms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history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4612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74720" y="30632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0040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052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+ hashing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035040" y="283464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12355F"/>
          </a:solidFill>
          <a:ln w="12700">
            <a:solidFill>
              <a:srgbClr val="1F4A7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63640" y="306324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20040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949440" y="301752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Pillow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63640" y="37033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8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 image handling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budget splits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1430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4663440" y="11430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percentages for illustration; users can adjust them in the Excel planner.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and limitations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test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and wrong-password handling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planner with valid and low budgets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upload and file-type check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when no AI key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prices or stock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advice is guidance, not exact rates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match depends on photo quality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comes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444752"/>
            <a:ext cx="310896" cy="31089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80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price comparison via partner APIs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663440" y="128016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444752"/>
            <a:ext cx="310896" cy="31089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86400" y="1280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404872"/>
            <a:ext cx="310896" cy="31089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language support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4663440" y="224028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404872"/>
            <a:ext cx="310896" cy="31089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5486400" y="2240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plans with family</a:t>
            </a:r>
            <a:endParaRPr lang="en-US" sz="1600" dirty="0"/>
          </a:p>
        </p:txBody>
      </p:sp>
      <p:sp>
        <p:nvSpPr>
          <p:cNvPr id="15" name="Text 9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PocketSmart AI</dc:title>
  <dc:subject>PptxGenJS Presentation</dc:subject>
  <dc:creator>PptxGenJS</dc:creator>
  <cp:lastModifiedBy>PptxGenJS</cp:lastModifiedBy>
  <cp:revision>1</cp:revision>
  <dcterms:created xsi:type="dcterms:W3CDTF">2026-09-30T06:48:47Z</dcterms:created>
  <dcterms:modified xsi:type="dcterms:W3CDTF">2026-09-30T06:48:47Z</dcterms:modified>
</cp:coreProperties>
</file>